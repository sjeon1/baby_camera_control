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960120"/>
            <a:ext cx="5303520" cy="59436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l"/>
            <a:r>
              <a:rPr sz="3400" b="1">
                <a:solidFill>
                  <a:srgbClr val="182334"/>
                </a:solidFill>
                <a:latin typeface="Aptos"/>
              </a:rPr>
              <a:t>Baby Camera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572768"/>
            <a:ext cx="7498079" cy="59436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l"/>
            <a:r>
              <a:rPr sz="3400" b="1">
                <a:solidFill>
                  <a:srgbClr val="182334"/>
                </a:solidFill>
                <a:latin typeface="Aptos"/>
              </a:rPr>
              <a:t>Palm Tracking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8046720" cy="3200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l"/>
            <a:r>
              <a:rPr sz="1700" b="0">
                <a:solidFill>
                  <a:srgbClr val="5B687A"/>
                </a:solidFill>
                <a:latin typeface="Aptos"/>
              </a:rPr>
              <a:t>ROS2 + MediaPipe + ONVIF PTZ camera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886200"/>
            <a:ext cx="2377440" cy="1005840"/>
          </a:xfrm>
          <a:prstGeom prst="roundRect">
            <a:avLst/>
          </a:prstGeom>
          <a:solidFill>
            <a:srgbClr val="E5F5EF"/>
          </a:solidFill>
          <a:ln w="17780">
            <a:solidFill>
              <a:srgbClr val="33A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182334"/>
                </a:solidFill>
                <a:latin typeface="Aptos"/>
              </a:rPr>
              <a:t>Input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RTSP camera stream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3886200"/>
            <a:ext cx="2377440" cy="1005840"/>
          </a:xfrm>
          <a:prstGeom prst="roundRect">
            <a:avLst/>
          </a:prstGeom>
          <a:solidFill>
            <a:srgbClr val="FFF5DF"/>
          </a:solidFill>
          <a:ln w="17780">
            <a:solidFill>
              <a:srgbClr val="D89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182334"/>
                </a:solidFill>
                <a:latin typeface="Aptos"/>
              </a:rPr>
              <a:t>Perception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Open palm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886200"/>
            <a:ext cx="2377440" cy="1005840"/>
          </a:xfrm>
          <a:prstGeom prst="roundRect">
            <a:avLst/>
          </a:prstGeom>
          <a:solidFill>
            <a:srgbClr val="F1EDFF"/>
          </a:solidFill>
          <a:ln w="17780">
            <a:solidFill>
              <a:srgbClr val="755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182334"/>
                </a:solidFill>
                <a:latin typeface="Aptos"/>
              </a:rPr>
              <a:t>Control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Pan / tilt command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3886200"/>
            <a:ext cx="2377440" cy="1005840"/>
          </a:xfrm>
          <a:prstGeom prst="roundRect">
            <a:avLst/>
          </a:prstGeom>
          <a:solidFill>
            <a:srgbClr val="E5F5EF"/>
          </a:solidFill>
          <a:ln w="17780">
            <a:solidFill>
              <a:srgbClr val="33A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182334"/>
                </a:solidFill>
                <a:latin typeface="Aptos"/>
              </a:rPr>
              <a:t>Output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ONVIF camera motion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63240" y="4389120"/>
            <a:ext cx="365760" cy="0"/>
          </a:xfrm>
          <a:prstGeom prst="line">
            <a:avLst/>
          </a:prstGeom>
          <a:ln w="21590">
            <a:solidFill>
              <a:srgbClr val="3A4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06440" y="4389120"/>
            <a:ext cx="365760" cy="0"/>
          </a:xfrm>
          <a:prstGeom prst="line">
            <a:avLst/>
          </a:prstGeom>
          <a:ln w="21590">
            <a:solidFill>
              <a:srgbClr val="3A4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49640" y="4389120"/>
            <a:ext cx="365760" cy="0"/>
          </a:xfrm>
          <a:prstGeom prst="line">
            <a:avLst/>
          </a:prstGeom>
          <a:ln w="21590">
            <a:solidFill>
              <a:srgbClr val="3A4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l"/>
            <a:r>
              <a:rPr sz="2800" b="1">
                <a:solidFill>
                  <a:srgbClr val="182334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77824"/>
            <a:ext cx="10972800" cy="3200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l"/>
            <a:r>
              <a:rPr sz="1300" b="0">
                <a:solidFill>
                  <a:srgbClr val="5B687A"/>
                </a:solidFill>
                <a:latin typeface="Aptos"/>
              </a:rPr>
              <a:t>Three ROS2 nodes form a closed-loop camera controller.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011680"/>
            <a:ext cx="2148840" cy="1143000"/>
          </a:xfrm>
          <a:prstGeom prst="roundRect">
            <a:avLst/>
          </a:prstGeom>
          <a:solidFill>
            <a:srgbClr val="E5F5EF"/>
          </a:solidFill>
          <a:ln w="17780">
            <a:solidFill>
              <a:srgbClr val="33A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182334"/>
                </a:solidFill>
                <a:latin typeface="Aptos"/>
              </a:rPr>
              <a:t>Tapo Camera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RTSP stream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ONVIF PTZ target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2011680"/>
            <a:ext cx="2331720" cy="1143000"/>
          </a:xfrm>
          <a:prstGeom prst="roundRect">
            <a:avLst/>
          </a:prstGeom>
          <a:solidFill>
            <a:srgbClr val="EDF4FF"/>
          </a:solidFill>
          <a:ln w="17780">
            <a:solidFill>
              <a:srgbClr val="4D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182334"/>
                </a:solidFill>
                <a:latin typeface="Aptos"/>
              </a:rPr>
              <a:t>rtsp_image_publisher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Publishes camera frames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/baby_cam/image_raw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2011680"/>
            <a:ext cx="2240280" cy="1143000"/>
          </a:xfrm>
          <a:prstGeom prst="roundRect">
            <a:avLst/>
          </a:prstGeom>
          <a:solidFill>
            <a:srgbClr val="FFF5DF"/>
          </a:solidFill>
          <a:ln w="17780">
            <a:solidFill>
              <a:srgbClr val="D89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182334"/>
                </a:solidFill>
                <a:latin typeface="Aptos"/>
              </a:rPr>
              <a:t>palm_tracker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Detects open palm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Publishes Twist command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2011680"/>
            <a:ext cx="2331720" cy="1143000"/>
          </a:xfrm>
          <a:prstGeom prst="roundRect">
            <a:avLst/>
          </a:prstGeom>
          <a:solidFill>
            <a:srgbClr val="F1EDFF"/>
          </a:solidFill>
          <a:ln w="17780">
            <a:solidFill>
              <a:srgbClr val="755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182334"/>
                </a:solidFill>
                <a:latin typeface="Aptos"/>
              </a:rPr>
              <a:t>ptz_controller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Converts Twist to ONVIF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ContinuousMove / Stop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2578608"/>
            <a:ext cx="502920" cy="0"/>
          </a:xfrm>
          <a:prstGeom prst="line">
            <a:avLst/>
          </a:prstGeom>
          <a:ln w="21590">
            <a:solidFill>
              <a:srgbClr val="3A4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74620" y="2377439"/>
            <a:ext cx="731520" cy="2011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900" b="1">
                <a:solidFill>
                  <a:srgbClr val="3A485A"/>
                </a:solidFill>
                <a:latin typeface="Aptos"/>
              </a:rPr>
              <a:t>RTSP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77840" y="2578608"/>
            <a:ext cx="502920" cy="0"/>
          </a:xfrm>
          <a:prstGeom prst="line">
            <a:avLst/>
          </a:prstGeom>
          <a:ln w="21590">
            <a:solidFill>
              <a:srgbClr val="3A4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509260" y="2377439"/>
            <a:ext cx="731520" cy="2011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900" b="1">
                <a:solidFill>
                  <a:srgbClr val="3A485A"/>
                </a:solidFill>
                <a:latin typeface="Aptos"/>
              </a:rPr>
              <a:t>Image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21040" y="2578608"/>
            <a:ext cx="502920" cy="0"/>
          </a:xfrm>
          <a:prstGeom prst="line">
            <a:avLst/>
          </a:prstGeom>
          <a:ln w="21590">
            <a:solidFill>
              <a:srgbClr val="3A4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52460" y="2377439"/>
            <a:ext cx="731520" cy="2011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900" b="1">
                <a:solidFill>
                  <a:srgbClr val="3A485A"/>
                </a:solidFill>
                <a:latin typeface="Aptos"/>
              </a:rPr>
              <a:t>Twist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600200" y="3154680"/>
            <a:ext cx="8366760" cy="1216152"/>
          </a:xfrm>
          <a:prstGeom prst="line">
            <a:avLst/>
          </a:prstGeom>
          <a:ln w="21590">
            <a:solidFill>
              <a:srgbClr val="3A4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63540" y="3561588"/>
            <a:ext cx="731520" cy="2011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900" b="1">
                <a:solidFill>
                  <a:srgbClr val="3A485A"/>
                </a:solidFill>
                <a:latin typeface="Aptos"/>
              </a:rPr>
              <a:t>ONVIF feedback loop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4800600"/>
            <a:ext cx="246888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A4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182334"/>
                </a:solidFill>
                <a:latin typeface="Aptos"/>
              </a:rPr>
              <a:t>Debug Output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/baby_cam/tracking_image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Annotated palm overlay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6126480" y="3154680"/>
            <a:ext cx="1051560" cy="1645920"/>
          </a:xfrm>
          <a:prstGeom prst="line">
            <a:avLst/>
          </a:prstGeom>
          <a:ln w="21590">
            <a:solidFill>
              <a:srgbClr val="3A4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l"/>
            <a:r>
              <a:rPr sz="2800" b="1">
                <a:solidFill>
                  <a:srgbClr val="182334"/>
                </a:solidFill>
                <a:latin typeface="Aptos"/>
              </a:rPr>
              <a:t>Palm Detection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77824"/>
            <a:ext cx="10972800" cy="3200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l"/>
            <a:r>
              <a:rPr sz="1300" b="0">
                <a:solidFill>
                  <a:srgbClr val="5B687A"/>
                </a:solidFill>
                <a:latin typeface="Aptos"/>
              </a:rPr>
              <a:t>The tracker only follows a stable open palm; every other state stops the camera.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240280"/>
            <a:ext cx="1508760" cy="868680"/>
          </a:xfrm>
          <a:prstGeom prst="roundRect">
            <a:avLst/>
          </a:prstGeom>
          <a:solidFill>
            <a:srgbClr val="EDF4FF"/>
          </a:solidFill>
          <a:ln w="17780">
            <a:solidFill>
              <a:srgbClr val="4D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182334"/>
                </a:solidFill>
                <a:latin typeface="Aptos"/>
              </a:rPr>
              <a:t>Receive Image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/baby_cam/image_raw</a:t>
            </a:r>
          </a:p>
        </p:txBody>
      </p:sp>
      <p:sp>
        <p:nvSpPr>
          <p:cNvPr id="5" name="Diamond 4"/>
          <p:cNvSpPr/>
          <p:nvPr/>
        </p:nvSpPr>
        <p:spPr>
          <a:xfrm>
            <a:off x="2331720" y="2057400"/>
            <a:ext cx="1417320" cy="123444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3A4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300" b="1">
                <a:solidFill>
                  <a:srgbClr val="182334"/>
                </a:solidFill>
                <a:latin typeface="Aptos"/>
              </a:rPr>
              <a:t>Process Frame</a:t>
            </a:r>
          </a:p>
          <a:p>
            <a:pPr algn="ctr"/>
            <a:r>
              <a:rPr sz="900">
                <a:solidFill>
                  <a:srgbClr val="5B687A"/>
                </a:solidFill>
                <a:latin typeface="Aptos"/>
              </a:rPr>
              <a:t>frame skip</a:t>
            </a:r>
          </a:p>
          <a:p>
            <a:pPr algn="ctr"/>
            <a:r>
              <a:rPr sz="900">
                <a:solidFill>
                  <a:srgbClr val="5B687A"/>
                </a:solidFill>
                <a:latin typeface="Aptos"/>
              </a:rPr>
              <a:t>FPS gate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2240280"/>
            <a:ext cx="1417320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A4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182334"/>
                </a:solidFill>
                <a:latin typeface="Aptos"/>
              </a:rPr>
              <a:t>Convert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ROS Image to BGR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2240280"/>
            <a:ext cx="1417320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A4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182334"/>
                </a:solidFill>
                <a:latin typeface="Aptos"/>
              </a:rPr>
              <a:t>Preprocess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resize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BGR to RGB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2240280"/>
            <a:ext cx="1645920" cy="868680"/>
          </a:xfrm>
          <a:prstGeom prst="roundRect">
            <a:avLst/>
          </a:prstGeom>
          <a:solidFill>
            <a:srgbClr val="FFF5DF"/>
          </a:solidFill>
          <a:ln w="17780">
            <a:solidFill>
              <a:srgbClr val="D89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182334"/>
                </a:solidFill>
                <a:latin typeface="Aptos"/>
              </a:rPr>
              <a:t>MediaPipe Hands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21 landmarks</a:t>
            </a:r>
          </a:p>
        </p:txBody>
      </p:sp>
      <p:sp>
        <p:nvSpPr>
          <p:cNvPr id="9" name="Diamond 8"/>
          <p:cNvSpPr/>
          <p:nvPr/>
        </p:nvSpPr>
        <p:spPr>
          <a:xfrm>
            <a:off x="9555480" y="2057400"/>
            <a:ext cx="1417320" cy="123444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3A4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300" b="1">
                <a:solidFill>
                  <a:srgbClr val="182334"/>
                </a:solidFill>
                <a:latin typeface="Aptos"/>
              </a:rPr>
              <a:t>Hand Found</a:t>
            </a:r>
          </a:p>
          <a:p>
            <a:pPr algn="ctr"/>
            <a:r>
              <a:rPr sz="900">
                <a:solidFill>
                  <a:srgbClr val="5B687A"/>
                </a:solidFill>
                <a:latin typeface="Aptos"/>
              </a:rPr>
              <a:t>landmarks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11680" y="2670048"/>
            <a:ext cx="320040" cy="0"/>
          </a:xfrm>
          <a:prstGeom prst="line">
            <a:avLst/>
          </a:prstGeom>
          <a:ln w="21590">
            <a:solidFill>
              <a:srgbClr val="3A4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749039" y="2670048"/>
            <a:ext cx="320041" cy="0"/>
          </a:xfrm>
          <a:prstGeom prst="line">
            <a:avLst/>
          </a:prstGeom>
          <a:ln w="21590">
            <a:solidFill>
              <a:srgbClr val="3A4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589020" y="2468879"/>
            <a:ext cx="731520" cy="2011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900" b="1">
                <a:solidFill>
                  <a:srgbClr val="3A485A"/>
                </a:solidFill>
                <a:latin typeface="Aptos"/>
              </a:rPr>
              <a:t>Yes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0" y="2670048"/>
            <a:ext cx="320040" cy="0"/>
          </a:xfrm>
          <a:prstGeom prst="line">
            <a:avLst/>
          </a:prstGeom>
          <a:ln w="21590">
            <a:solidFill>
              <a:srgbClr val="3A4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223760" y="2670048"/>
            <a:ext cx="320040" cy="0"/>
          </a:xfrm>
          <a:prstGeom prst="line">
            <a:avLst/>
          </a:prstGeom>
          <a:ln w="21590">
            <a:solidFill>
              <a:srgbClr val="3A4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189720" y="2670048"/>
            <a:ext cx="365760" cy="0"/>
          </a:xfrm>
          <a:prstGeom prst="line">
            <a:avLst/>
          </a:prstGeom>
          <a:ln w="21590">
            <a:solidFill>
              <a:srgbClr val="3A4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372600" y="4251960"/>
            <a:ext cx="1828800" cy="868680"/>
          </a:xfrm>
          <a:prstGeom prst="roundRect">
            <a:avLst/>
          </a:prstGeom>
          <a:solidFill>
            <a:srgbClr val="FFF0F0"/>
          </a:solidFill>
          <a:ln w="17780">
            <a:solidFill>
              <a:srgbClr val="D8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182334"/>
                </a:solidFill>
                <a:latin typeface="Aptos"/>
              </a:rPr>
              <a:t>Stop Camera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publish zero Twist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259568" y="3291840"/>
            <a:ext cx="0" cy="960120"/>
          </a:xfrm>
          <a:prstGeom prst="line">
            <a:avLst/>
          </a:prstGeom>
          <a:ln w="21590">
            <a:solidFill>
              <a:srgbClr val="D858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939528" y="3570732"/>
            <a:ext cx="731520" cy="2011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900" b="1">
                <a:solidFill>
                  <a:srgbClr val="D85858"/>
                </a:solidFill>
                <a:latin typeface="Aptos"/>
              </a:rPr>
              <a:t>No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4572000"/>
            <a:ext cx="1828800" cy="868680"/>
          </a:xfrm>
          <a:prstGeom prst="roundRect">
            <a:avLst/>
          </a:prstGeom>
          <a:solidFill>
            <a:srgbClr val="FFF5DF"/>
          </a:solidFill>
          <a:ln w="17780">
            <a:solidFill>
              <a:srgbClr val="D89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182334"/>
                </a:solidFill>
                <a:latin typeface="Aptos"/>
              </a:rPr>
              <a:t>Continue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palm validation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7315200" y="2788920"/>
            <a:ext cx="2240280" cy="1783080"/>
          </a:xfrm>
          <a:prstGeom prst="line">
            <a:avLst/>
          </a:prstGeom>
          <a:ln w="21590">
            <a:solidFill>
              <a:srgbClr val="3A4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115300" y="3479292"/>
            <a:ext cx="731520" cy="2011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900" b="1">
                <a:solidFill>
                  <a:srgbClr val="3A485A"/>
                </a:solidFill>
                <a:latin typeface="Aptos"/>
              </a:rPr>
              <a:t>Yes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l"/>
            <a:r>
              <a:rPr sz="2800" b="1">
                <a:solidFill>
                  <a:srgbClr val="182334"/>
                </a:solidFill>
                <a:latin typeface="Aptos"/>
              </a:rPr>
              <a:t>Palm Validation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77824"/>
            <a:ext cx="10972800" cy="3200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l"/>
            <a:r>
              <a:rPr sz="1300" b="0">
                <a:solidFill>
                  <a:srgbClr val="5B687A"/>
                </a:solidFill>
                <a:latin typeface="Aptos"/>
              </a:rPr>
              <a:t>The camera moves only when all palm checks pass.</a:t>
            </a:r>
          </a:p>
        </p:txBody>
      </p:sp>
      <p:sp>
        <p:nvSpPr>
          <p:cNvPr id="4" name="Diamond 3"/>
          <p:cNvSpPr/>
          <p:nvPr/>
        </p:nvSpPr>
        <p:spPr>
          <a:xfrm>
            <a:off x="914400" y="1828800"/>
            <a:ext cx="1828800" cy="150876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3A4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300" b="1">
                <a:solidFill>
                  <a:srgbClr val="182334"/>
                </a:solidFill>
                <a:latin typeface="Aptos"/>
              </a:rPr>
              <a:t>Confident Hand</a:t>
            </a:r>
          </a:p>
          <a:p>
            <a:pPr algn="ctr"/>
            <a:r>
              <a:rPr sz="900">
                <a:solidFill>
                  <a:srgbClr val="5B687A"/>
                </a:solidFill>
                <a:latin typeface="Aptos"/>
              </a:rPr>
              <a:t>landmarks inside frame</a:t>
            </a:r>
          </a:p>
          <a:p>
            <a:pPr algn="ctr"/>
            <a:r>
              <a:rPr sz="900">
                <a:solidFill>
                  <a:srgbClr val="5B687A"/>
                </a:solidFill>
                <a:latin typeface="Aptos"/>
              </a:rPr>
              <a:t>minimum hand size</a:t>
            </a:r>
          </a:p>
        </p:txBody>
      </p:sp>
      <p:sp>
        <p:nvSpPr>
          <p:cNvPr id="5" name="Diamond 4"/>
          <p:cNvSpPr/>
          <p:nvPr/>
        </p:nvSpPr>
        <p:spPr>
          <a:xfrm>
            <a:off x="3657600" y="1828800"/>
            <a:ext cx="1828800" cy="150876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3A4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300" b="1">
                <a:solidFill>
                  <a:srgbClr val="182334"/>
                </a:solidFill>
                <a:latin typeface="Aptos"/>
              </a:rPr>
              <a:t>Open Palm</a:t>
            </a:r>
          </a:p>
          <a:p>
            <a:pPr algn="ctr"/>
            <a:r>
              <a:rPr sz="900">
                <a:solidFill>
                  <a:srgbClr val="5B687A"/>
                </a:solidFill>
                <a:latin typeface="Aptos"/>
              </a:rPr>
              <a:t>extended fingers &gt;= 4</a:t>
            </a:r>
          </a:p>
        </p:txBody>
      </p:sp>
      <p:sp>
        <p:nvSpPr>
          <p:cNvPr id="6" name="Diamond 5"/>
          <p:cNvSpPr/>
          <p:nvPr/>
        </p:nvSpPr>
        <p:spPr>
          <a:xfrm>
            <a:off x="6400800" y="1828800"/>
            <a:ext cx="1828800" cy="150876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3A4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300" b="1">
                <a:solidFill>
                  <a:srgbClr val="182334"/>
                </a:solidFill>
                <a:latin typeface="Aptos"/>
              </a:rPr>
              <a:t>Stable Palm</a:t>
            </a:r>
          </a:p>
          <a:p>
            <a:pPr algn="ctr"/>
            <a:r>
              <a:rPr sz="900">
                <a:solidFill>
                  <a:srgbClr val="5B687A"/>
                </a:solidFill>
                <a:latin typeface="Aptos"/>
              </a:rPr>
              <a:t>stable_palm_frames</a:t>
            </a:r>
          </a:p>
          <a:p>
            <a:pPr algn="ctr"/>
            <a:r>
              <a:rPr sz="900">
                <a:solidFill>
                  <a:srgbClr val="5B687A"/>
                </a:solidFill>
                <a:latin typeface="Aptos"/>
              </a:rPr>
              <a:t>default: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2057400"/>
            <a:ext cx="1828800" cy="1051560"/>
          </a:xfrm>
          <a:prstGeom prst="roundRect">
            <a:avLst/>
          </a:prstGeom>
          <a:solidFill>
            <a:srgbClr val="FFF5DF"/>
          </a:solidFill>
          <a:ln w="17780">
            <a:solidFill>
              <a:srgbClr val="D89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182334"/>
                </a:solidFill>
                <a:latin typeface="Aptos"/>
              </a:rPr>
              <a:t>Track Palm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compute center error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2578608"/>
            <a:ext cx="914400" cy="0"/>
          </a:xfrm>
          <a:prstGeom prst="line">
            <a:avLst/>
          </a:prstGeom>
          <a:ln w="21590">
            <a:solidFill>
              <a:srgbClr val="3A4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880360" y="2377439"/>
            <a:ext cx="731520" cy="2011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900" b="1">
                <a:solidFill>
                  <a:srgbClr val="3A485A"/>
                </a:solidFill>
                <a:latin typeface="Aptos"/>
              </a:rPr>
              <a:t>Yes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0" y="2578608"/>
            <a:ext cx="914400" cy="0"/>
          </a:xfrm>
          <a:prstGeom prst="line">
            <a:avLst/>
          </a:prstGeom>
          <a:ln w="21590">
            <a:solidFill>
              <a:srgbClr val="3A4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23560" y="2377439"/>
            <a:ext cx="731520" cy="2011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900" b="1">
                <a:solidFill>
                  <a:srgbClr val="3A485A"/>
                </a:solidFill>
                <a:latin typeface="Aptos"/>
              </a:rPr>
              <a:t>Yes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0" y="2578608"/>
            <a:ext cx="1005840" cy="0"/>
          </a:xfrm>
          <a:prstGeom prst="line">
            <a:avLst/>
          </a:prstGeom>
          <a:ln w="21590">
            <a:solidFill>
              <a:srgbClr val="3A4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12480" y="2377439"/>
            <a:ext cx="731520" cy="2011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900" b="1">
                <a:solidFill>
                  <a:srgbClr val="3A485A"/>
                </a:solidFill>
                <a:latin typeface="Aptos"/>
              </a:rPr>
              <a:t>Yes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4617720"/>
            <a:ext cx="2560320" cy="1005840"/>
          </a:xfrm>
          <a:prstGeom prst="roundRect">
            <a:avLst/>
          </a:prstGeom>
          <a:solidFill>
            <a:srgbClr val="FFF0F0"/>
          </a:solidFill>
          <a:ln w="17780">
            <a:solidFill>
              <a:srgbClr val="D8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182334"/>
                </a:solidFill>
                <a:latin typeface="Aptos"/>
              </a:rPr>
              <a:t>Stop Camera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reset tracking state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publish zero Twist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828800" y="3337560"/>
            <a:ext cx="3063240" cy="1280160"/>
          </a:xfrm>
          <a:prstGeom prst="line">
            <a:avLst/>
          </a:prstGeom>
          <a:ln w="21590">
            <a:solidFill>
              <a:srgbClr val="D858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040379" y="3776472"/>
            <a:ext cx="731520" cy="2011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900" b="1">
                <a:solidFill>
                  <a:srgbClr val="D85858"/>
                </a:solidFill>
                <a:latin typeface="Aptos"/>
              </a:rPr>
              <a:t>No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0" y="3337560"/>
            <a:ext cx="914400" cy="1280160"/>
          </a:xfrm>
          <a:prstGeom prst="line">
            <a:avLst/>
          </a:prstGeom>
          <a:ln w="21590">
            <a:solidFill>
              <a:srgbClr val="D858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709160" y="3776472"/>
            <a:ext cx="731520" cy="2011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900" b="1">
                <a:solidFill>
                  <a:srgbClr val="D85858"/>
                </a:solidFill>
                <a:latin typeface="Aptos"/>
              </a:rPr>
              <a:t>No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6080760" y="3337560"/>
            <a:ext cx="1234440" cy="1280160"/>
          </a:xfrm>
          <a:prstGeom prst="line">
            <a:avLst/>
          </a:prstGeom>
          <a:ln w="21590">
            <a:solidFill>
              <a:srgbClr val="D858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77940" y="3776472"/>
            <a:ext cx="731520" cy="2011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ctr"/>
            <a:r>
              <a:rPr sz="900" b="1">
                <a:solidFill>
                  <a:srgbClr val="D85858"/>
                </a:solidFill>
                <a:latin typeface="Aptos"/>
              </a:rPr>
              <a:t>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l"/>
            <a:r>
              <a:rPr sz="2800" b="1">
                <a:solidFill>
                  <a:srgbClr val="182334"/>
                </a:solidFill>
                <a:latin typeface="Aptos"/>
              </a:rPr>
              <a:t>PTZ Command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77824"/>
            <a:ext cx="10972800" cy="3200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l"/>
            <a:r>
              <a:rPr sz="1300" b="0">
                <a:solidFill>
                  <a:srgbClr val="5B687A"/>
                </a:solidFill>
                <a:latin typeface="Aptos"/>
              </a:rPr>
              <a:t>The palm center is converted into smooth pan/tilt velocity commands.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1828800" cy="914400"/>
          </a:xfrm>
          <a:prstGeom prst="roundRect">
            <a:avLst/>
          </a:prstGeom>
          <a:solidFill>
            <a:srgbClr val="FFF5DF"/>
          </a:solidFill>
          <a:ln w="17780">
            <a:solidFill>
              <a:srgbClr val="D89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182334"/>
                </a:solidFill>
                <a:latin typeface="Aptos"/>
              </a:rPr>
              <a:t>Palm Center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average of landmarks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0" y="1874519"/>
            <a:ext cx="192024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A4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182334"/>
                </a:solidFill>
                <a:latin typeface="Aptos"/>
              </a:rPr>
              <a:t>Center Error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palm center - image center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874519"/>
            <a:ext cx="182880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A4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182334"/>
                </a:solidFill>
                <a:latin typeface="Aptos"/>
              </a:rPr>
              <a:t>Filtering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error smoothing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derivative clamp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9480" y="1874519"/>
            <a:ext cx="1920240" cy="914400"/>
          </a:xfrm>
          <a:prstGeom prst="roundRect">
            <a:avLst/>
          </a:prstGeom>
          <a:solidFill>
            <a:srgbClr val="F1EDFF"/>
          </a:solidFill>
          <a:ln w="17780">
            <a:solidFill>
              <a:srgbClr val="755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182334"/>
                </a:solidFill>
                <a:latin typeface="Aptos"/>
              </a:rPr>
              <a:t>Velocity Limits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max speed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acceleration limit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1874519"/>
            <a:ext cx="1828800" cy="914400"/>
          </a:xfrm>
          <a:prstGeom prst="roundRect">
            <a:avLst/>
          </a:prstGeom>
          <a:solidFill>
            <a:srgbClr val="F1EDFF"/>
          </a:solidFill>
          <a:ln w="17780">
            <a:solidFill>
              <a:srgbClr val="755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182334"/>
                </a:solidFill>
                <a:latin typeface="Aptos"/>
              </a:rPr>
              <a:t>Publish Twist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/baby_cam/ptz_cmd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23160" y="2331720"/>
            <a:ext cx="365760" cy="0"/>
          </a:xfrm>
          <a:prstGeom prst="line">
            <a:avLst/>
          </a:prstGeom>
          <a:ln w="21590">
            <a:solidFill>
              <a:srgbClr val="3A4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09160" y="2331720"/>
            <a:ext cx="365760" cy="0"/>
          </a:xfrm>
          <a:prstGeom prst="line">
            <a:avLst/>
          </a:prstGeom>
          <a:ln w="21590">
            <a:solidFill>
              <a:srgbClr val="3A4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03720" y="2331720"/>
            <a:ext cx="365760" cy="0"/>
          </a:xfrm>
          <a:prstGeom prst="line">
            <a:avLst/>
          </a:prstGeom>
          <a:ln w="21590">
            <a:solidFill>
              <a:srgbClr val="3A4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89720" y="2331720"/>
            <a:ext cx="365760" cy="0"/>
          </a:xfrm>
          <a:prstGeom prst="line">
            <a:avLst/>
          </a:prstGeom>
          <a:ln w="21590">
            <a:solidFill>
              <a:srgbClr val="3A4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3749039"/>
            <a:ext cx="3840480" cy="3200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182334"/>
                </a:solidFill>
                <a:latin typeface="Aptos"/>
              </a:rPr>
              <a:t>Control equations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206240"/>
            <a:ext cx="512064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A4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182334"/>
                </a:solidFill>
                <a:latin typeface="Aptos"/>
              </a:rPr>
              <a:t>Error</a:t>
            </a:r>
          </a:p>
          <a:p>
            <a:pPr algn="ctr">
              <a:spcBef>
                <a:spcPts val="200"/>
              </a:spcBef>
            </a:pPr>
            <a:r>
              <a:rPr sz="1200">
                <a:solidFill>
                  <a:srgbClr val="5B687A"/>
                </a:solidFill>
                <a:latin typeface="Aptos"/>
              </a:rPr>
              <a:t>error_x = palm_x - image_width / 2</a:t>
            </a:r>
          </a:p>
          <a:p>
            <a:pPr algn="ctr">
              <a:spcBef>
                <a:spcPts val="200"/>
              </a:spcBef>
            </a:pPr>
            <a:r>
              <a:rPr sz="1200">
                <a:solidFill>
                  <a:srgbClr val="5B687A"/>
                </a:solidFill>
                <a:latin typeface="Aptos"/>
              </a:rPr>
              <a:t>error_y = palm_y - image_height /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4206240"/>
            <a:ext cx="475488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A4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182334"/>
                </a:solidFill>
                <a:latin typeface="Aptos"/>
              </a:rPr>
              <a:t>Command</a:t>
            </a:r>
          </a:p>
          <a:p>
            <a:pPr algn="ctr">
              <a:spcBef>
                <a:spcPts val="200"/>
              </a:spcBef>
            </a:pPr>
            <a:r>
              <a:rPr sz="1200">
                <a:solidFill>
                  <a:srgbClr val="5B687A"/>
                </a:solidFill>
                <a:latin typeface="Aptos"/>
              </a:rPr>
              <a:t>pan = error_x * pan_gain</a:t>
            </a:r>
          </a:p>
          <a:p>
            <a:pPr algn="ctr">
              <a:spcBef>
                <a:spcPts val="200"/>
              </a:spcBef>
            </a:pPr>
            <a:r>
              <a:rPr sz="1200">
                <a:solidFill>
                  <a:srgbClr val="5B687A"/>
                </a:solidFill>
                <a:latin typeface="Aptos"/>
              </a:rPr>
              <a:t>tilt = -error_y * tilt_gain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l"/>
            <a:r>
              <a:rPr sz="2800" b="1">
                <a:solidFill>
                  <a:srgbClr val="182334"/>
                </a:solidFill>
                <a:latin typeface="Aptos"/>
              </a:rPr>
              <a:t>Key Runtime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77824"/>
            <a:ext cx="10972800" cy="3200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l"/>
            <a:r>
              <a:rPr sz="1300" b="0">
                <a:solidFill>
                  <a:srgbClr val="5B687A"/>
                </a:solidFill>
                <a:latin typeface="Aptos"/>
              </a:rPr>
              <a:t>These values tune responsiveness, stability, and safety.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283464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82334"/>
                </a:solidFill>
                <a:latin typeface="Aptos"/>
              </a:defRPr>
            </a:pPr>
            <a:r>
              <a:t>Detection: min_detection_confidence, min_tracking_confidence</a:t>
            </a:r>
          </a:p>
          <a:p>
            <a:pPr>
              <a:spcAft>
                <a:spcPts val="800"/>
              </a:spcAft>
              <a:defRPr sz="1700">
                <a:solidFill>
                  <a:srgbClr val="182334"/>
                </a:solidFill>
                <a:latin typeface="Aptos"/>
              </a:defRPr>
            </a:pPr>
            <a:r>
              <a:t>Palm quality: min_hand_size_px, min_landmark_visibility_ratio, stable_palm_frames</a:t>
            </a:r>
          </a:p>
          <a:p>
            <a:pPr>
              <a:spcAft>
                <a:spcPts val="800"/>
              </a:spcAft>
              <a:defRPr sz="1700">
                <a:solidFill>
                  <a:srgbClr val="182334"/>
                </a:solidFill>
                <a:latin typeface="Aptos"/>
              </a:defRPr>
            </a:pPr>
            <a:r>
              <a:t>Responsiveness: pan_gain, tilt_gain, command_smoothing_alpha</a:t>
            </a:r>
          </a:p>
          <a:p>
            <a:pPr>
              <a:spcAft>
                <a:spcPts val="800"/>
              </a:spcAft>
              <a:defRPr sz="1700">
                <a:solidFill>
                  <a:srgbClr val="182334"/>
                </a:solidFill>
                <a:latin typeface="Aptos"/>
              </a:defRPr>
            </a:pPr>
            <a:r>
              <a:t>Safety limits: max_pan_speed, max_tilt_speed, max_pan_accel, max_tilt_accel</a:t>
            </a:r>
          </a:p>
          <a:p>
            <a:pPr>
              <a:spcAft>
                <a:spcPts val="800"/>
              </a:spcAft>
              <a:defRPr sz="1700">
                <a:solidFill>
                  <a:srgbClr val="182334"/>
                </a:solidFill>
                <a:latin typeface="Aptos"/>
              </a:defRPr>
            </a:pPr>
            <a:r>
              <a:t>Noise handling: center_tolerance_px, movement_start_tolerance_px, min_command_speed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40280" y="4892040"/>
            <a:ext cx="7680960" cy="914400"/>
          </a:xfrm>
          <a:prstGeom prst="roundRect">
            <a:avLst/>
          </a:prstGeom>
          <a:solidFill>
            <a:srgbClr val="FFF5DF"/>
          </a:solidFill>
          <a:ln w="17780">
            <a:solidFill>
              <a:srgbClr val="D89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182334"/>
                </a:solidFill>
                <a:latin typeface="Aptos"/>
              </a:rPr>
              <a:t>Default behavior</a:t>
            </a:r>
          </a:p>
          <a:p>
            <a:pPr algn="ctr">
              <a:spcBef>
                <a:spcPts val="200"/>
              </a:spcBef>
            </a:pPr>
            <a:r>
              <a:rPr sz="1300">
                <a:solidFill>
                  <a:srgbClr val="5B687A"/>
                </a:solidFill>
                <a:latin typeface="Aptos"/>
              </a:rPr>
              <a:t>Open palm: follow toward image center</a:t>
            </a:r>
          </a:p>
          <a:p>
            <a:pPr algn="ctr">
              <a:spcBef>
                <a:spcPts val="200"/>
              </a:spcBef>
            </a:pPr>
            <a:r>
              <a:rPr sz="1300">
                <a:solidFill>
                  <a:srgbClr val="5B687A"/>
                </a:solidFill>
                <a:latin typeface="Aptos"/>
              </a:rPr>
              <a:t>No palm or invalid palm: stop immediately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l"/>
            <a:r>
              <a:rPr sz="2800" b="1">
                <a:solidFill>
                  <a:srgbClr val="182334"/>
                </a:solidFill>
                <a:latin typeface="Aptos"/>
              </a:rPr>
              <a:t>Launch and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77824"/>
            <a:ext cx="10972800" cy="3200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l"/>
            <a:r>
              <a:rPr sz="1300" b="0">
                <a:solidFill>
                  <a:srgbClr val="5B687A"/>
                </a:solidFill>
                <a:latin typeface="Aptos"/>
              </a:rPr>
              <a:t>Single launch file starts the complete palm tracking camera controller.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645920"/>
            <a:ext cx="1014984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A4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700" b="1">
                <a:solidFill>
                  <a:srgbClr val="182334"/>
                </a:solidFill>
                <a:latin typeface="Aptos"/>
              </a:rPr>
              <a:t>Launch</a:t>
            </a:r>
          </a:p>
          <a:p>
            <a:pPr algn="ctr">
              <a:spcBef>
                <a:spcPts val="200"/>
              </a:spcBef>
            </a:pPr>
            <a:r>
              <a:rPr sz="1500">
                <a:solidFill>
                  <a:srgbClr val="5B687A"/>
                </a:solidFill>
                <a:latin typeface="Aptos"/>
              </a:rPr>
              <a:t>ros2 launch baby_camera_control tapo_camera.launch.py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971800"/>
            <a:ext cx="2926080" cy="1097280"/>
          </a:xfrm>
          <a:prstGeom prst="roundRect">
            <a:avLst/>
          </a:prstGeom>
          <a:solidFill>
            <a:srgbClr val="EDF4FF"/>
          </a:solidFill>
          <a:ln w="17780">
            <a:solidFill>
              <a:srgbClr val="4D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182334"/>
                </a:solidFill>
                <a:latin typeface="Aptos"/>
              </a:rPr>
              <a:t>Input Topic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/baby_cam/image_raw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sensor_msgs/Image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2971800"/>
            <a:ext cx="2926080" cy="1097280"/>
          </a:xfrm>
          <a:prstGeom prst="roundRect">
            <a:avLst/>
          </a:prstGeom>
          <a:solidFill>
            <a:srgbClr val="F1EDFF"/>
          </a:solidFill>
          <a:ln w="17780">
            <a:solidFill>
              <a:srgbClr val="755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182334"/>
                </a:solidFill>
                <a:latin typeface="Aptos"/>
              </a:rPr>
              <a:t>Command Topic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/baby_cam/ptz_cmd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geometry_msgs/Twist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971800"/>
            <a:ext cx="2926080" cy="1097280"/>
          </a:xfrm>
          <a:prstGeom prst="roundRect">
            <a:avLst/>
          </a:prstGeom>
          <a:solidFill>
            <a:srgbClr val="FFF5DF"/>
          </a:solidFill>
          <a:ln w="17780">
            <a:solidFill>
              <a:srgbClr val="D89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182334"/>
                </a:solidFill>
                <a:latin typeface="Aptos"/>
              </a:rPr>
              <a:t>Debug Topic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/baby_cam/tracking_image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5B687A"/>
                </a:solidFill>
                <a:latin typeface="Aptos"/>
              </a:rPr>
              <a:t>sensor_msgs/Image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257800"/>
            <a:ext cx="10149840" cy="36576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 algn="l"/>
            <a:r>
              <a:rPr sz="1500" b="0">
                <a:solidFill>
                  <a:srgbClr val="5B687A"/>
                </a:solidFill>
                <a:latin typeface="Aptos"/>
              </a:rPr>
              <a:t>Security note: keep RTSP and ONVIF on the local network and do not commit real camera credentials.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